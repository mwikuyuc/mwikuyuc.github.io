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7" Type="http://schemas.openxmlformats.org/officeDocument/2006/relationships/image" Target="../media/image6.png" /><Relationship Id="rId6" Type="http://schemas.openxmlformats.org/officeDocument/2006/relationships/image" Target="../media/image5.png" /><Relationship Id="rId5" Type="http://schemas.openxmlformats.org/officeDocument/2006/relationships/image" Target="../media/image4.png" /><Relationship Id="rId4" Type="http://schemas.openxmlformats.org/officeDocument/2006/relationships/image" Target="../media/image3.png" /><Relationship Id="rId3" Type="http://schemas.openxmlformats.org/officeDocument/2006/relationships/image" Target="../media/image2.png" /><Relationship Id="rId2" Type="http://schemas.openxmlformats.org/officeDocument/2006/relationships/image" Target="../media/image1.png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---</a:t>
            </a:r>
            <a:br/>
            <a:r>
              <a:rPr b="1" i="1">
                <a:solidFill>
                  <a:srgbClr val="60A0B0"/>
                </a:solidFill>
                <a:latin typeface="Courier"/>
              </a:rPr>
              <a:t>title:</a:t>
            </a:r>
            <a:r>
              <a:rPr i="1">
                <a:solidFill>
                  <a:srgbClr val="60A0B0"/>
                </a:solidFill>
                <a:latin typeface="Courier"/>
              </a:rPr>
              <a:t> "Лабораторная работа №5"</a:t>
            </a:r>
            <a:br/>
            <a:r>
              <a:rPr b="1" i="1">
                <a:solidFill>
                  <a:srgbClr val="60A0B0"/>
                </a:solidFill>
                <a:latin typeface="Courier"/>
              </a:rPr>
              <a:t>author:</a:t>
            </a:r>
            <a:r>
              <a:rPr i="1">
                <a:solidFill>
                  <a:srgbClr val="60A0B0"/>
                </a:solidFill>
                <a:latin typeface="Courier"/>
              </a:rPr>
              <a:t> "Мвикую Кристиан Кристофер"</a:t>
            </a:r>
            <a:br/>
            <a:r>
              <a:rPr b="1" i="1">
                <a:solidFill>
                  <a:srgbClr val="60A0B0"/>
                </a:solidFill>
                <a:latin typeface="Courier"/>
              </a:rPr>
              <a:t>date:</a:t>
            </a:r>
            <a:r>
              <a:rPr i="1">
                <a:solidFill>
                  <a:srgbClr val="60A0B0"/>
                </a:solidFill>
                <a:latin typeface="Courier"/>
              </a:rPr>
              <a:t> "2026-03-21"</a:t>
            </a:r>
            <a:br/>
            <a:r>
              <a:rPr b="1" i="1">
                <a:solidFill>
                  <a:srgbClr val="60A0B0"/>
                </a:solidFill>
                <a:latin typeface="Courier"/>
              </a:rPr>
              <a:t>subject:</a:t>
            </a:r>
            <a:r>
              <a:rPr i="1">
                <a:solidFill>
                  <a:srgbClr val="60A0B0"/>
                </a:solidFill>
                <a:latin typeface="Courier"/>
              </a:rPr>
              <a:t> "Операционные системы"</a:t>
            </a:r>
            <a:br/>
            <a:r>
              <a:rPr b="1" i="1">
                <a:solidFill>
                  <a:srgbClr val="60A0B0"/>
                </a:solidFill>
                <a:latin typeface="Courier"/>
              </a:rPr>
              <a:t>keywords:</a:t>
            </a:r>
            <a:r>
              <a:rPr i="1">
                <a:solidFill>
                  <a:srgbClr val="60A0B0"/>
                </a:solidFill>
                <a:latin typeface="Courier"/>
              </a:rPr>
              <a:t> [GitHub Pages, Jekyll, Markdown, персональный сайт]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---</a:t>
            </a:r>
            <a:br/>
            <a:br/>
            <a:r>
              <a:rPr>
                <a:latin typeface="Courier"/>
              </a:rPr>
              <a:t>\pagenumbering{gobble}</a:t>
            </a:r>
            <a:br/>
            <a:br/>
            <a:r>
              <a:rPr>
                <a:latin typeface="Courier"/>
              </a:rPr>
              <a:t>\begin{titlepage}</a:t>
            </a:r>
            <a:br/>
            <a:r>
              <a:rPr>
                <a:latin typeface="Courier"/>
              </a:rPr>
              <a:t>\centering</a:t>
            </a:r>
            <a:br/>
            <a:r>
              <a:rPr>
                <a:latin typeface="Courier"/>
              </a:rPr>
              <a:t>\vspace*{2cm}</a:t>
            </a:r>
            <a:br/>
            <a:br/>
            <a:r>
              <a:rPr>
                <a:latin typeface="Courier"/>
              </a:rPr>
              <a:t>\textbf{МИНИСТЕРСТВО НАУКИ И ВЫСШЕГО ОБРАЗОВАНИЯ РОССИЙСКОЙ ФЕДЕРАЦИИ}</a:t>
            </a:r>
            <a:br/>
            <a:br/>
            <a:r>
              <a:rPr>
                <a:latin typeface="Courier"/>
              </a:rPr>
              <a:t>\vspace{0.5cm}</a:t>
            </a:r>
            <a:br/>
            <a:br/>
            <a:r>
              <a:rPr>
                <a:latin typeface="Courier"/>
              </a:rPr>
              <a:t>\textbf{ФЕДЕРАЛЬНОЕ ГОСУДАРСТВЕННОЕ АВТОНОМНОЕ ОБРАЗОВАТЕЛЬНОЕ УЧРЕЖДЕНИЕ ВЫСШЕГО ОБРАЗОВАНИЯ}</a:t>
            </a:r>
            <a:br/>
            <a:br/>
            <a:r>
              <a:rPr>
                <a:latin typeface="Courier"/>
              </a:rPr>
              <a:t>\vspace{0.2cm}</a:t>
            </a:r>
            <a:br/>
            <a:br/>
            <a:r>
              <a:rPr>
                <a:latin typeface="Courier"/>
              </a:rPr>
              <a:t>\textbf{РОССИЙСКИЙ УНИВЕРСИТЕТ ДРУЖБЫ НАРОДОВ ИМЕНИ ПАТРИСА ЛУМУМБЫ}</a:t>
            </a:r>
            <a:br/>
            <a:br/>
            <a:r>
              <a:rPr>
                <a:latin typeface="Courier"/>
              </a:rPr>
              <a:t>\vspace{2cm}</a:t>
            </a:r>
            <a:br/>
            <a:br/>
            <a:r>
              <a:rPr>
                <a:latin typeface="Courier"/>
              </a:rPr>
              <a:t>\textbf{Факультет физико-математических и естественных наук}</a:t>
            </a:r>
            <a:br/>
            <a:br/>
            <a:r>
              <a:rPr>
                <a:latin typeface="Courier"/>
              </a:rPr>
              <a:t>\vspace{1cm}</a:t>
            </a:r>
            <a:br/>
            <a:br/>
            <a:r>
              <a:rPr>
                <a:latin typeface="Courier"/>
              </a:rPr>
              <a:t>\textbf{Кафедра прикладной информатики и теории вероятностей}</a:t>
            </a:r>
            <a:br/>
            <a:br/>
            <a:r>
              <a:rPr>
                <a:latin typeface="Courier"/>
              </a:rPr>
              <a:t>\vspace{3cm}</a:t>
            </a:r>
            <a:br/>
            <a:br/>
            <a:r>
              <a:rPr>
                <a:latin typeface="Courier"/>
              </a:rPr>
              <a:t>\textbf{ОТЧЁТ}</a:t>
            </a:r>
            <a:br/>
            <a:br/>
            <a:r>
              <a:rPr>
                <a:latin typeface="Courier"/>
              </a:rPr>
              <a:t>\vspace{0.3cm}</a:t>
            </a:r>
            <a:br/>
            <a:br/>
            <a:r>
              <a:rPr>
                <a:latin typeface="Courier"/>
              </a:rPr>
              <a:t>\textbf{о лабораторной работе №5}</a:t>
            </a:r>
            <a:br/>
            <a:br/>
            <a:r>
              <a:rPr>
                <a:latin typeface="Courier"/>
              </a:rPr>
              <a:t>\vspace{0.3cm}</a:t>
            </a:r>
            <a:br/>
            <a:br/>
            <a:r>
              <a:rPr>
                <a:latin typeface="Courier"/>
              </a:rPr>
              <a:t>\textbf{«Размещение персонального сайта на GitHub Pages»}</a:t>
            </a:r>
            <a:br/>
            <a:br/>
            <a:r>
              <a:rPr>
                <a:latin typeface="Courier"/>
              </a:rPr>
              <a:t>\vspace{1cm}</a:t>
            </a:r>
            <a:br/>
            <a:br/>
            <a:r>
              <a:rPr>
                <a:latin typeface="Courier"/>
              </a:rPr>
              <a:t>\begin{flushright}</a:t>
            </a:r>
            <a:br/>
            <a:r>
              <a:rPr>
                <a:latin typeface="Courier"/>
              </a:rPr>
              <a:t>\textbf{Выполнил:} </a:t>
            </a:r>
            <a:r>
              <a:rPr>
                <a:solidFill>
                  <a:srgbClr val="4070A0"/>
                </a:solidFill>
                <a:latin typeface="Courier"/>
              </a:rPr>
              <a:t>\\</a:t>
            </a:r>
            <a:br/>
            <a:r>
              <a:rPr>
                <a:latin typeface="Courier"/>
              </a:rPr>
              <a:t>Студент группы НПИбд-02-25 </a:t>
            </a:r>
            <a:r>
              <a:rPr>
                <a:solidFill>
                  <a:srgbClr val="4070A0"/>
                </a:solidFill>
                <a:latin typeface="Courier"/>
              </a:rPr>
              <a:t>\\</a:t>
            </a:r>
            <a:br/>
            <a:r>
              <a:rPr>
                <a:latin typeface="Courier"/>
              </a:rPr>
              <a:t>Мвикую Кристиан Кристофер </a:t>
            </a:r>
            <a:r>
              <a:rPr>
                <a:solidFill>
                  <a:srgbClr val="4070A0"/>
                </a:solidFill>
                <a:latin typeface="Courier"/>
              </a:rPr>
              <a:t>\\</a:t>
            </a:r>
            <a:br/>
            <a:r>
              <a:rPr>
                <a:latin typeface="Courier"/>
              </a:rPr>
              <a:t>\vspace{0.5cm}</a:t>
            </a:r>
            <a:br/>
            <a:r>
              <a:rPr>
                <a:latin typeface="Courier"/>
              </a:rPr>
              <a:t>\textbf{Проверил:} </a:t>
            </a:r>
            <a:r>
              <a:rPr>
                <a:solidFill>
                  <a:srgbClr val="4070A0"/>
                </a:solidFill>
                <a:latin typeface="Courier"/>
              </a:rPr>
              <a:t>\\</a:t>
            </a:r>
            <a:br/>
            <a:r>
              <a:rPr>
                <a:latin typeface="Courier"/>
              </a:rPr>
              <a:t>Доцент </a:t>
            </a:r>
            <a:r>
              <a:rPr>
                <a:solidFill>
                  <a:srgbClr val="4070A0"/>
                </a:solidFill>
                <a:latin typeface="Courier"/>
              </a:rPr>
              <a:t>\\</a:t>
            </a:r>
            <a:br/>
            <a:r>
              <a:rPr>
                <a:latin typeface="Courier"/>
              </a:rPr>
              <a:t>Иванов Иван Иванович</a:t>
            </a:r>
            <a:br/>
            <a:r>
              <a:rPr>
                <a:latin typeface="Courier"/>
              </a:rPr>
              <a:t>\end{flushright}</a:t>
            </a:r>
            <a:br/>
            <a:br/>
            <a:r>
              <a:rPr>
                <a:latin typeface="Courier"/>
              </a:rPr>
              <a:t>\vfill</a:t>
            </a:r>
            <a:br/>
            <a:br/>
            <a:r>
              <a:rPr>
                <a:latin typeface="Courier"/>
              </a:rPr>
              <a:t>\textbf{Москва, 2026}</a:t>
            </a:r>
            <a:br/>
            <a:r>
              <a:rPr>
                <a:latin typeface="Courier"/>
              </a:rPr>
              <a:t>\end{titlepage}</a:t>
            </a:r>
            <a:br/>
            <a:br/>
            <a:r>
              <a:rPr>
                <a:latin typeface="Courier"/>
              </a:rPr>
              <a:t>\pagenumbering{arabic}</a:t>
            </a:r>
            <a:br/>
            <a:r>
              <a:rPr>
                <a:latin typeface="Courier"/>
              </a:rPr>
              <a:t>\setcounter{page}{2}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## Реферат</a:t>
            </a:r>
            <a:br/>
            <a:br/>
            <a:r>
              <a:rPr>
                <a:latin typeface="Courier"/>
              </a:rPr>
              <a:t>**Отчёт содержит:** 12 страниц, 8 иллюстраций, 2 таблицы, 5 источников.</a:t>
            </a:r>
            <a:br/>
            <a:br/>
            <a:r>
              <a:rPr>
                <a:latin typeface="Courier"/>
              </a:rPr>
              <a:t>**Ключевые слова:** GitHub Pages, Jekyll, Markdown, персональный сайт, статический генератор, Git, версионирование.</a:t>
            </a:r>
            <a:br/>
            <a:br/>
            <a:r>
              <a:rPr>
                <a:latin typeface="Courier"/>
              </a:rPr>
              <a:t>**Аннотация:** В данной лабораторной работе были изучены основы размещения статических сайтов на платформе GitHub Pages с использованием генератора статических сайтов Jekyll. В процессе работы был создан персональный сайт-портфолио, содержащий информацию о владельце, его образовании, интересах, а также два тематических поста. Сайт был размещён на хостинге GitHub Pages и настроен для доступа по адресу https://MwikuyuC.github.io. В результате работы были получены практические навыки работы с Git, Jekyll и GitHub Pages.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## Содержание</a:t>
            </a:r>
            <a:br/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 i="1">
                <a:solidFill>
                  <a:srgbClr val="60A0B0"/>
                </a:solidFill>
                <a:latin typeface="Courier"/>
              </a:rPr>
              <a:t>[</a:t>
            </a:r>
            <a:r>
              <a:rPr>
                <a:solidFill>
                  <a:srgbClr val="007020"/>
                </a:solidFill>
                <a:latin typeface="Courier"/>
              </a:rPr>
              <a:t>Реферат</a:t>
            </a:r>
            <a:r>
              <a:rPr i="1">
                <a:solidFill>
                  <a:srgbClr val="60A0B0"/>
                </a:solidFill>
                <a:latin typeface="Courier"/>
              </a:rPr>
              <a:t>](#реферат)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 i="1">
                <a:solidFill>
                  <a:srgbClr val="60A0B0"/>
                </a:solidFill>
                <a:latin typeface="Courier"/>
              </a:rPr>
              <a:t>[</a:t>
            </a:r>
            <a:r>
              <a:rPr>
                <a:solidFill>
                  <a:srgbClr val="007020"/>
                </a:solidFill>
                <a:latin typeface="Courier"/>
              </a:rPr>
              <a:t>Введение</a:t>
            </a:r>
            <a:r>
              <a:rPr i="1">
                <a:solidFill>
                  <a:srgbClr val="60A0B0"/>
                </a:solidFill>
                <a:latin typeface="Courier"/>
              </a:rPr>
              <a:t>](#введение)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 i="1">
                <a:solidFill>
                  <a:srgbClr val="60A0B0"/>
                </a:solidFill>
                <a:latin typeface="Courier"/>
              </a:rPr>
              <a:t>[</a:t>
            </a:r>
            <a:r>
              <a:rPr>
                <a:solidFill>
                  <a:srgbClr val="007020"/>
                </a:solidFill>
                <a:latin typeface="Courier"/>
              </a:rPr>
              <a:t>Основная часть</a:t>
            </a:r>
            <a:r>
              <a:rPr i="1">
                <a:solidFill>
                  <a:srgbClr val="60A0B0"/>
                </a:solidFill>
                <a:latin typeface="Courier"/>
              </a:rPr>
              <a:t>](#основная-часть)</a:t>
            </a:r>
            <a:br/>
            <a:r>
              <a:rPr>
                <a:solidFill>
                  <a:srgbClr val="BB6688"/>
                </a:solidFill>
                <a:latin typeface="Courier"/>
              </a:rPr>
              <a:t>  - </a:t>
            </a:r>
            <a:r>
              <a:rPr i="1">
                <a:solidFill>
                  <a:srgbClr val="60A0B0"/>
                </a:solidFill>
                <a:latin typeface="Courier"/>
              </a:rPr>
              <a:t>[</a:t>
            </a:r>
            <a:r>
              <a:rPr>
                <a:solidFill>
                  <a:srgbClr val="007020"/>
                </a:solidFill>
                <a:latin typeface="Courier"/>
              </a:rPr>
              <a:t>Цель работы</a:t>
            </a:r>
            <a:r>
              <a:rPr i="1">
                <a:solidFill>
                  <a:srgbClr val="60A0B0"/>
                </a:solidFill>
                <a:latin typeface="Courier"/>
              </a:rPr>
              <a:t>](#цель-работы)</a:t>
            </a:r>
            <a:br/>
            <a:r>
              <a:rPr>
                <a:solidFill>
                  <a:srgbClr val="BB6688"/>
                </a:solidFill>
                <a:latin typeface="Courier"/>
              </a:rPr>
              <a:t>  - </a:t>
            </a:r>
            <a:r>
              <a:rPr i="1">
                <a:solidFill>
                  <a:srgbClr val="60A0B0"/>
                </a:solidFill>
                <a:latin typeface="Courier"/>
              </a:rPr>
              <a:t>[</a:t>
            </a:r>
            <a:r>
              <a:rPr>
                <a:solidFill>
                  <a:srgbClr val="007020"/>
                </a:solidFill>
                <a:latin typeface="Courier"/>
              </a:rPr>
              <a:t>Задачи</a:t>
            </a:r>
            <a:r>
              <a:rPr i="1">
                <a:solidFill>
                  <a:srgbClr val="60A0B0"/>
                </a:solidFill>
                <a:latin typeface="Courier"/>
              </a:rPr>
              <a:t>](#задачи)</a:t>
            </a:r>
            <a:br/>
            <a:r>
              <a:rPr>
                <a:solidFill>
                  <a:srgbClr val="BB6688"/>
                </a:solidFill>
                <a:latin typeface="Courier"/>
              </a:rPr>
              <a:t>  - </a:t>
            </a:r>
            <a:r>
              <a:rPr i="1">
                <a:solidFill>
                  <a:srgbClr val="60A0B0"/>
                </a:solidFill>
                <a:latin typeface="Courier"/>
              </a:rPr>
              <a:t>[</a:t>
            </a:r>
            <a:r>
              <a:rPr>
                <a:solidFill>
                  <a:srgbClr val="007020"/>
                </a:solidFill>
                <a:latin typeface="Courier"/>
              </a:rPr>
              <a:t>Установка необходимого программного обеспечения</a:t>
            </a:r>
            <a:r>
              <a:rPr i="1">
                <a:solidFill>
                  <a:srgbClr val="60A0B0"/>
                </a:solidFill>
                <a:latin typeface="Courier"/>
              </a:rPr>
              <a:t>](#установка-необходимого-программного-обеспечения)</a:t>
            </a:r>
            <a:br/>
            <a:r>
              <a:rPr>
                <a:solidFill>
                  <a:srgbClr val="BB6688"/>
                </a:solidFill>
                <a:latin typeface="Courier"/>
              </a:rPr>
              <a:t>  - </a:t>
            </a:r>
            <a:r>
              <a:rPr i="1">
                <a:solidFill>
                  <a:srgbClr val="60A0B0"/>
                </a:solidFill>
                <a:latin typeface="Courier"/>
              </a:rPr>
              <a:t>[</a:t>
            </a:r>
            <a:r>
              <a:rPr>
                <a:solidFill>
                  <a:srgbClr val="007020"/>
                </a:solidFill>
                <a:latin typeface="Courier"/>
              </a:rPr>
              <a:t>Создание репозитория на GitHub</a:t>
            </a:r>
            <a:r>
              <a:rPr i="1">
                <a:solidFill>
                  <a:srgbClr val="60A0B0"/>
                </a:solidFill>
                <a:latin typeface="Courier"/>
              </a:rPr>
              <a:t>](#создание-репозитория-на-github)</a:t>
            </a:r>
            <a:br/>
            <a:r>
              <a:rPr>
                <a:solidFill>
                  <a:srgbClr val="BB6688"/>
                </a:solidFill>
                <a:latin typeface="Courier"/>
              </a:rPr>
              <a:t>  - </a:t>
            </a:r>
            <a:r>
              <a:rPr i="1">
                <a:solidFill>
                  <a:srgbClr val="60A0B0"/>
                </a:solidFill>
                <a:latin typeface="Courier"/>
              </a:rPr>
              <a:t>[</a:t>
            </a:r>
            <a:r>
              <a:rPr>
                <a:solidFill>
                  <a:srgbClr val="007020"/>
                </a:solidFill>
                <a:latin typeface="Courier"/>
              </a:rPr>
              <a:t>Настройка Jekyll и создание структуры сайта</a:t>
            </a:r>
            <a:r>
              <a:rPr i="1">
                <a:solidFill>
                  <a:srgbClr val="60A0B0"/>
                </a:solidFill>
                <a:latin typeface="Courier"/>
              </a:rPr>
              <a:t>](#настройка-jekyll-и-создание-структуры-сайта)</a:t>
            </a:r>
            <a:br/>
            <a:r>
              <a:rPr>
                <a:solidFill>
                  <a:srgbClr val="BB6688"/>
                </a:solidFill>
                <a:latin typeface="Courier"/>
              </a:rPr>
              <a:t>  - </a:t>
            </a:r>
            <a:r>
              <a:rPr i="1">
                <a:solidFill>
                  <a:srgbClr val="60A0B0"/>
                </a:solidFill>
                <a:latin typeface="Courier"/>
              </a:rPr>
              <a:t>[</a:t>
            </a:r>
            <a:r>
              <a:rPr>
                <a:solidFill>
                  <a:srgbClr val="007020"/>
                </a:solidFill>
                <a:latin typeface="Courier"/>
              </a:rPr>
              <a:t>Создание страниц с личной информацией</a:t>
            </a:r>
            <a:r>
              <a:rPr i="1">
                <a:solidFill>
                  <a:srgbClr val="60A0B0"/>
                </a:solidFill>
                <a:latin typeface="Courier"/>
              </a:rPr>
              <a:t>](#создание-страниц-с-личной-информацией)</a:t>
            </a:r>
            <a:br/>
            <a:r>
              <a:rPr>
                <a:solidFill>
                  <a:srgbClr val="BB6688"/>
                </a:solidFill>
                <a:latin typeface="Courier"/>
              </a:rPr>
              <a:t>  - </a:t>
            </a:r>
            <a:r>
              <a:rPr i="1">
                <a:solidFill>
                  <a:srgbClr val="60A0B0"/>
                </a:solidFill>
                <a:latin typeface="Courier"/>
              </a:rPr>
              <a:t>[</a:t>
            </a:r>
            <a:r>
              <a:rPr>
                <a:solidFill>
                  <a:srgbClr val="007020"/>
                </a:solidFill>
                <a:latin typeface="Courier"/>
              </a:rPr>
              <a:t>Создание блоговых постов</a:t>
            </a:r>
            <a:r>
              <a:rPr i="1">
                <a:solidFill>
                  <a:srgbClr val="60A0B0"/>
                </a:solidFill>
                <a:latin typeface="Courier"/>
              </a:rPr>
              <a:t>](#создание-блоговых-постов)</a:t>
            </a:r>
            <a:br/>
            <a:r>
              <a:rPr>
                <a:solidFill>
                  <a:srgbClr val="BB6688"/>
                </a:solidFill>
                <a:latin typeface="Courier"/>
              </a:rPr>
              <a:t>  - </a:t>
            </a:r>
            <a:r>
              <a:rPr i="1">
                <a:solidFill>
                  <a:srgbClr val="60A0B0"/>
                </a:solidFill>
                <a:latin typeface="Courier"/>
              </a:rPr>
              <a:t>[</a:t>
            </a:r>
            <a:r>
              <a:rPr>
                <a:solidFill>
                  <a:srgbClr val="007020"/>
                </a:solidFill>
                <a:latin typeface="Courier"/>
              </a:rPr>
              <a:t>Размещение фотографии</a:t>
            </a:r>
            <a:r>
              <a:rPr i="1">
                <a:solidFill>
                  <a:srgbClr val="60A0B0"/>
                </a:solidFill>
                <a:latin typeface="Courier"/>
              </a:rPr>
              <a:t>](#размещение-фотографии)</a:t>
            </a:r>
            <a:br/>
            <a:r>
              <a:rPr>
                <a:solidFill>
                  <a:srgbClr val="BB6688"/>
                </a:solidFill>
                <a:latin typeface="Courier"/>
              </a:rPr>
              <a:t>  - </a:t>
            </a:r>
            <a:r>
              <a:rPr i="1">
                <a:solidFill>
                  <a:srgbClr val="60A0B0"/>
                </a:solidFill>
                <a:latin typeface="Courier"/>
              </a:rPr>
              <a:t>[</a:t>
            </a:r>
            <a:r>
              <a:rPr>
                <a:solidFill>
                  <a:srgbClr val="007020"/>
                </a:solidFill>
                <a:latin typeface="Courier"/>
              </a:rPr>
              <a:t>Публикация на GitHub Pages</a:t>
            </a:r>
            <a:r>
              <a:rPr i="1">
                <a:solidFill>
                  <a:srgbClr val="60A0B0"/>
                </a:solidFill>
                <a:latin typeface="Courier"/>
              </a:rPr>
              <a:t>](#публикация-на-github-pages)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 i="1">
                <a:solidFill>
                  <a:srgbClr val="60A0B0"/>
                </a:solidFill>
                <a:latin typeface="Courier"/>
              </a:rPr>
              <a:t>[</a:t>
            </a:r>
            <a:r>
              <a:rPr>
                <a:solidFill>
                  <a:srgbClr val="007020"/>
                </a:solidFill>
                <a:latin typeface="Courier"/>
              </a:rPr>
              <a:t>Результаты</a:t>
            </a:r>
            <a:r>
              <a:rPr i="1">
                <a:solidFill>
                  <a:srgbClr val="60A0B0"/>
                </a:solidFill>
                <a:latin typeface="Courier"/>
              </a:rPr>
              <a:t>](#результаты)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 i="1">
                <a:solidFill>
                  <a:srgbClr val="60A0B0"/>
                </a:solidFill>
                <a:latin typeface="Courier"/>
              </a:rPr>
              <a:t>[</a:t>
            </a:r>
            <a:r>
              <a:rPr>
                <a:solidFill>
                  <a:srgbClr val="007020"/>
                </a:solidFill>
                <a:latin typeface="Courier"/>
              </a:rPr>
              <a:t>Заключение</a:t>
            </a:r>
            <a:r>
              <a:rPr i="1">
                <a:solidFill>
                  <a:srgbClr val="60A0B0"/>
                </a:solidFill>
                <a:latin typeface="Courier"/>
              </a:rPr>
              <a:t>](#заключение)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 i="1">
                <a:solidFill>
                  <a:srgbClr val="60A0B0"/>
                </a:solidFill>
                <a:latin typeface="Courier"/>
              </a:rPr>
              <a:t>[</a:t>
            </a:r>
            <a:r>
              <a:rPr>
                <a:solidFill>
                  <a:srgbClr val="007020"/>
                </a:solidFill>
                <a:latin typeface="Courier"/>
              </a:rPr>
              <a:t>Список литературы</a:t>
            </a:r>
            <a:r>
              <a:rPr i="1">
                <a:solidFill>
                  <a:srgbClr val="60A0B0"/>
                </a:solidFill>
                <a:latin typeface="Courier"/>
              </a:rPr>
              <a:t>](#список-литературы)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 i="1">
                <a:solidFill>
                  <a:srgbClr val="60A0B0"/>
                </a:solidFill>
                <a:latin typeface="Courier"/>
              </a:rPr>
              <a:t>[</a:t>
            </a:r>
            <a:r>
              <a:rPr>
                <a:solidFill>
                  <a:srgbClr val="007020"/>
                </a:solidFill>
                <a:latin typeface="Courier"/>
              </a:rPr>
              <a:t>Приложение А. Скриншоты</a:t>
            </a:r>
            <a:r>
              <a:rPr i="1">
                <a:solidFill>
                  <a:srgbClr val="60A0B0"/>
                </a:solidFill>
                <a:latin typeface="Courier"/>
              </a:rPr>
              <a:t>](#приложение-а-скриншоты)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## Введение</a:t>
            </a:r>
            <a:br/>
            <a:br/>
            <a:r>
              <a:rPr>
                <a:latin typeface="Courier"/>
              </a:rPr>
              <a:t>В современном мире наличие персонального веб-сайта становится важным элементом профессионального присутствия в интернете. Для разработчиков, студентов IT-специальностей и технических специалистов персональный сайт является эффективным способом демонстрации своих навыков, проектов и достижений.</a:t>
            </a:r>
            <a:br/>
            <a:br/>
            <a:r>
              <a:rPr>
                <a:latin typeface="Courier"/>
              </a:rPr>
              <a:t>GitHub Pages предоставляет бесплатный хостинг для статических сайтов, интегрированный с системой контроля версий Git. В сочетании с генератором статических сайтов Jekyll, GitHub Pages позволяет создавать современные, быстрые и безопасные веб-сайты без необходимости настройки серверов и баз данных.</a:t>
            </a:r>
            <a:br/>
            <a:br/>
            <a:r>
              <a:rPr>
                <a:latin typeface="Courier"/>
              </a:rPr>
              <a:t>**Актуальность** данной работы обусловлена необходимостью освоения современных инструментов для создания и размещения веб-сайтов, а также важностью формирования профессионального онлайн-присутствия для будущей карьеры в области информационных технологий.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## Основная часть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### Цель работы</a:t>
            </a:r>
            <a:br/>
            <a:br/>
            <a:r>
              <a:rPr>
                <a:latin typeface="Courier"/>
              </a:rPr>
              <a:t>Получить практические навыки создания и размещения персонального статического сайта на платформе GitHub Pages с использованием генератора статических сайтов Jekyll.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### Задачи</a:t>
            </a:r>
            <a:br/>
            <a:br/>
            <a:r>
              <a:rPr>
                <a:solidFill>
                  <a:srgbClr val="BB6688"/>
                </a:solidFill>
                <a:latin typeface="Courier"/>
              </a:rPr>
              <a:t>1. </a:t>
            </a:r>
            <a:r>
              <a:rPr>
                <a:latin typeface="Courier"/>
              </a:rPr>
              <a:t>Установить и настроить необходимое программное обеспечение (Git, Ruby, Bundler, Jekyll)</a:t>
            </a:r>
            <a:br/>
            <a:r>
              <a:rPr>
                <a:solidFill>
                  <a:srgbClr val="BB6688"/>
                </a:solidFill>
                <a:latin typeface="Courier"/>
              </a:rPr>
              <a:t>2. </a:t>
            </a:r>
            <a:r>
              <a:rPr>
                <a:latin typeface="Courier"/>
              </a:rPr>
              <a:t>Создать репозиторий на GitHub для размещения сайта</a:t>
            </a:r>
            <a:br/>
            <a:r>
              <a:rPr>
                <a:solidFill>
                  <a:srgbClr val="BB6688"/>
                </a:solidFill>
                <a:latin typeface="Courier"/>
              </a:rPr>
              <a:t>3. </a:t>
            </a:r>
            <a:r>
              <a:rPr>
                <a:latin typeface="Courier"/>
              </a:rPr>
              <a:t>Выбрать и настроить тему оформления сайта</a:t>
            </a:r>
            <a:br/>
            <a:r>
              <a:rPr>
                <a:solidFill>
                  <a:srgbClr val="BB6688"/>
                </a:solidFill>
                <a:latin typeface="Courier"/>
              </a:rPr>
              <a:t>4. </a:t>
            </a:r>
            <a:r>
              <a:rPr>
                <a:latin typeface="Courier"/>
              </a:rPr>
              <a:t>Создать структуру сайта с использованием Jekyll</a:t>
            </a:r>
            <a:br/>
            <a:r>
              <a:rPr>
                <a:solidFill>
                  <a:srgbClr val="BB6688"/>
                </a:solidFill>
                <a:latin typeface="Courier"/>
              </a:rPr>
              <a:t>5. </a:t>
            </a:r>
            <a:r>
              <a:rPr>
                <a:latin typeface="Courier"/>
              </a:rPr>
              <a:t>Добавить личную информацию:</a:t>
            </a:r>
            <a:br/>
            <a:r>
              <a:rPr>
                <a:solidFill>
                  <a:srgbClr val="BB6688"/>
                </a:solidFill>
                <a:latin typeface="Courier"/>
              </a:rPr>
              <a:t>   - </a:t>
            </a:r>
            <a:r>
              <a:rPr>
                <a:latin typeface="Courier"/>
              </a:rPr>
              <a:t>Биографию владельца сайта</a:t>
            </a:r>
            <a:br/>
            <a:r>
              <a:rPr>
                <a:solidFill>
                  <a:srgbClr val="BB6688"/>
                </a:solidFill>
                <a:latin typeface="Courier"/>
              </a:rPr>
              <a:t>   - </a:t>
            </a:r>
            <a:r>
              <a:rPr>
                <a:latin typeface="Courier"/>
              </a:rPr>
              <a:t>Информацию об интересах</a:t>
            </a:r>
            <a:br/>
            <a:r>
              <a:rPr>
                <a:solidFill>
                  <a:srgbClr val="BB6688"/>
                </a:solidFill>
                <a:latin typeface="Courier"/>
              </a:rPr>
              <a:t>   - </a:t>
            </a:r>
            <a:r>
              <a:rPr>
                <a:latin typeface="Courier"/>
              </a:rPr>
              <a:t>Информацию об образовании</a:t>
            </a:r>
            <a:br/>
            <a:r>
              <a:rPr>
                <a:solidFill>
                  <a:srgbClr val="BB6688"/>
                </a:solidFill>
                <a:latin typeface="Courier"/>
              </a:rPr>
              <a:t>6. </a:t>
            </a:r>
            <a:r>
              <a:rPr>
                <a:latin typeface="Courier"/>
              </a:rPr>
              <a:t>Разместить фотографию владельца сайта</a:t>
            </a:r>
            <a:br/>
            <a:r>
              <a:rPr>
                <a:solidFill>
                  <a:srgbClr val="BB6688"/>
                </a:solidFill>
                <a:latin typeface="Courier"/>
              </a:rPr>
              <a:t>7. </a:t>
            </a:r>
            <a:r>
              <a:rPr>
                <a:latin typeface="Courier"/>
              </a:rPr>
              <a:t>Создать два блоговых поста:</a:t>
            </a:r>
            <a:br/>
            <a:r>
              <a:rPr>
                <a:solidFill>
                  <a:srgbClr val="BB6688"/>
                </a:solidFill>
                <a:latin typeface="Courier"/>
              </a:rPr>
              <a:t>   - </a:t>
            </a:r>
            <a:r>
              <a:rPr>
                <a:latin typeface="Courier"/>
              </a:rPr>
              <a:t>Пост о прошедшей неделе</a:t>
            </a:r>
            <a:br/>
            <a:r>
              <a:rPr>
                <a:solidFill>
                  <a:srgbClr val="BB6688"/>
                </a:solidFill>
                <a:latin typeface="Courier"/>
              </a:rPr>
              <a:t>   - </a:t>
            </a:r>
            <a:r>
              <a:rPr>
                <a:latin typeface="Courier"/>
              </a:rPr>
              <a:t>Технический пост на тему «Управление версиями. Git»</a:t>
            </a:r>
            <a:br/>
            <a:r>
              <a:rPr>
                <a:solidFill>
                  <a:srgbClr val="BB6688"/>
                </a:solidFill>
                <a:latin typeface="Courier"/>
              </a:rPr>
              <a:t>8. </a:t>
            </a:r>
            <a:r>
              <a:rPr>
                <a:latin typeface="Courier"/>
              </a:rPr>
              <a:t>Разместить сайт на GitHub Pages</a:t>
            </a:r>
            <a:br/>
            <a:r>
              <a:rPr>
                <a:solidFill>
                  <a:srgbClr val="BB6688"/>
                </a:solidFill>
                <a:latin typeface="Courier"/>
              </a:rPr>
              <a:t>9. </a:t>
            </a:r>
            <a:r>
              <a:rPr>
                <a:latin typeface="Courier"/>
              </a:rPr>
              <a:t>Проверить работоспособность сайта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### Установка необходимого программного обеспечения</a:t>
            </a:r>
            <a:br/>
            <a:br/>
            <a:r>
              <a:rPr>
                <a:latin typeface="Courier"/>
              </a:rPr>
              <a:t>Для выполнения лабораторной работы было необходимо установить следующие компоненты: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#### Проверка установленного ПО</a:t>
            </a:r>
            <a:br/>
            <a:br/>
            <a:r>
              <a:rPr b="1" i="1">
                <a:solidFill>
                  <a:srgbClr val="60A0B0"/>
                </a:solidFill>
                <a:latin typeface="Courier"/>
              </a:rPr>
              <a:t>```bash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Проверка версии Git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--version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Результат: git version 2.51.0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Проверка версии Ruby</a:t>
            </a:r>
            <a:br/>
            <a:r>
              <a:rPr>
                <a:latin typeface="Courier"/>
              </a:rPr>
              <a:t>ruby </a:t>
            </a:r>
            <a:r>
              <a:rPr>
                <a:solidFill>
                  <a:srgbClr val="7D9029"/>
                </a:solidFill>
                <a:latin typeface="Courier"/>
              </a:rPr>
              <a:t>--version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Результат: ruby 3.4.8 (2025-12-17 revision 995b59f666) +PRISM [x86_64-linux]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Проверка версии Bundler</a:t>
            </a:r>
            <a:br/>
            <a:r>
              <a:rPr>
                <a:latin typeface="Courier"/>
              </a:rPr>
              <a:t>bundler </a:t>
            </a:r>
            <a:r>
              <a:rPr>
                <a:solidFill>
                  <a:srgbClr val="7D9029"/>
                </a:solidFill>
                <a:latin typeface="Courier"/>
              </a:rPr>
              <a:t>--version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Результат: Bundler version 2.6.9</a:t>
            </a:r>
          </a:p>
        </p:txBody>
      </p:sp>
      <p:pic>
        <p:nvPicPr>
          <p:cNvPr descr="screenshots/M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574800"/>
            <a:ext cx="5105400" cy="1143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Проверка версий Git, Ruby и Bundler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Установка Ruby development headers</a:t>
            </a:r>
          </a:p>
          <a:p>
            <a:pPr lvl="0" indent="0" marL="0">
              <a:buNone/>
            </a:pPr>
            <a:r>
              <a:rPr/>
              <a:t>Для корректной работы Jekyll и установки необходимых гемов были установлены пакеты разработки: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sudo</a:t>
            </a:r>
            <a:r>
              <a:rPr>
                <a:latin typeface="Courier"/>
              </a:rPr>
              <a:t> dnf install ruby-devel gcc-c++ make redhat-rpm-config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Создание репозитория на GitHub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Создание репозитория через GitHub CLI</a:t>
            </a:r>
          </a:p>
          <a:p>
            <a:pPr lvl="0" indent="0" marL="0">
              <a:buNone/>
            </a:pPr>
            <a:r>
              <a:rPr/>
              <a:t>Для создания репозитория была использована утилита GitHub CLI: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Создание репозитория для персонального сайта</a:t>
            </a:r>
            <a:br/>
            <a:r>
              <a:rPr>
                <a:latin typeface="Courier"/>
              </a:rPr>
              <a:t>gh repo create MwikuyuC.github.io </a:t>
            </a:r>
            <a:r>
              <a:rPr>
                <a:solidFill>
                  <a:srgbClr val="7D9029"/>
                </a:solidFill>
                <a:latin typeface="Courier"/>
              </a:rPr>
              <a:t>--public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--description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"My personal website"</a:t>
            </a:r>
          </a:p>
        </p:txBody>
      </p:sp>
      <p:pic>
        <p:nvPicPr>
          <p:cNvPr descr="screenshots/M4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68700" y="1346200"/>
            <a:ext cx="5105400" cy="1574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Создание репозитория MwikuyuC.github.io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Клонирование репозитория</a:t>
            </a:r>
          </a:p>
          <a:p>
            <a:pPr lvl="0" indent="0" marL="0">
              <a:buNone/>
            </a:pPr>
            <a:r>
              <a:rPr/>
              <a:t>После создания репозитория он был клонирован на локальную машину: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Клонирование репозитория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clone git@github.com:MwikuyuC/MwikuyuC.github.io.git</a:t>
            </a:r>
            <a:br/>
            <a:r>
              <a:rPr>
                <a:solidFill>
                  <a:srgbClr val="008000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MwikuyuC.github.io</a:t>
            </a:r>
          </a:p>
        </p:txBody>
      </p:sp>
      <p:pic>
        <p:nvPicPr>
          <p:cNvPr descr="screenshots/M5.png" id="0" name="Picture 1"/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3568700" y="1638300"/>
            <a:ext cx="5105400" cy="1003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Клонирование репозитория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Настройка Jekyll и создание структуры сайта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Создание Gemfile</a:t>
            </a:r>
          </a:p>
          <a:p>
            <a:pPr lvl="0" indent="0" marL="0">
              <a:buNone/>
            </a:pPr>
            <a:r>
              <a:rPr/>
              <a:t>Был создан файл </a:t>
            </a:r>
            <a:r>
              <a:rPr>
                <a:latin typeface="Courier"/>
              </a:rPr>
              <a:t>Gemfile</a:t>
            </a:r>
            <a:r>
              <a:rPr/>
              <a:t> для управления зависимостями проекта:</a:t>
            </a:r>
          </a:p>
          <a:p>
            <a:pPr lvl="0" indent="0">
              <a:buNone/>
            </a:pPr>
            <a:r>
              <a:rPr>
                <a:latin typeface="Courier"/>
              </a:rPr>
              <a:t>source </a:t>
            </a:r>
            <a:r>
              <a:rPr>
                <a:solidFill>
                  <a:srgbClr val="4070A0"/>
                </a:solidFill>
                <a:latin typeface="Courier"/>
              </a:rPr>
              <a:t>"https://rubygems.org"</a:t>
            </a:r>
            <a:br/>
            <a:br/>
            <a:r>
              <a:rPr>
                <a:latin typeface="Courier"/>
              </a:rPr>
              <a:t>gem </a:t>
            </a:r>
            <a:r>
              <a:rPr>
                <a:solidFill>
                  <a:srgbClr val="4070A0"/>
                </a:solidFill>
                <a:latin typeface="Courier"/>
              </a:rPr>
              <a:t>"jekyll"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"~&gt; 4.3"</a:t>
            </a:r>
            <a:br/>
            <a:r>
              <a:rPr>
                <a:latin typeface="Courier"/>
              </a:rPr>
              <a:t>gem </a:t>
            </a:r>
            <a:r>
              <a:rPr>
                <a:solidFill>
                  <a:srgbClr val="4070A0"/>
                </a:solidFill>
                <a:latin typeface="Courier"/>
              </a:rPr>
              <a:t>"minima"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"~&gt; 2.5"</a:t>
            </a:r>
            <a:br/>
            <a:br/>
            <a:r>
              <a:rPr>
                <a:latin typeface="Courier"/>
              </a:rPr>
              <a:t>group </a:t>
            </a:r>
            <a:r>
              <a:rPr b="1" i="1">
                <a:solidFill>
                  <a:srgbClr val="60A0B0"/>
                </a:solidFill>
                <a:latin typeface="Courier"/>
              </a:rPr>
              <a:t>:jekyll_plugins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do</a:t>
            </a:r>
            <a:br/>
            <a:r>
              <a:rPr>
                <a:latin typeface="Courier"/>
              </a:rPr>
              <a:t>  gem </a:t>
            </a:r>
            <a:r>
              <a:rPr>
                <a:solidFill>
                  <a:srgbClr val="4070A0"/>
                </a:solidFill>
                <a:latin typeface="Courier"/>
              </a:rPr>
              <a:t>"jekyll-feed"</a:t>
            </a:r>
            <a:br/>
            <a:r>
              <a:rPr>
                <a:latin typeface="Courier"/>
              </a:rPr>
              <a:t>  gem </a:t>
            </a:r>
            <a:r>
              <a:rPr>
                <a:solidFill>
                  <a:srgbClr val="4070A0"/>
                </a:solidFill>
                <a:latin typeface="Courier"/>
              </a:rPr>
              <a:t>"jekyll-seo-tag"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end</a:t>
            </a:r>
            <a:br/>
            <a:br/>
            <a:r>
              <a:rPr>
                <a:latin typeface="Courier"/>
              </a:rPr>
              <a:t>gem </a:t>
            </a:r>
            <a:r>
              <a:rPr>
                <a:solidFill>
                  <a:srgbClr val="4070A0"/>
                </a:solidFill>
                <a:latin typeface="Courier"/>
              </a:rPr>
              <a:t>"webrick"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"~&gt; 1.8"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Настройка конфигурации сайта</a:t>
            </a:r>
          </a:p>
          <a:p>
            <a:pPr lvl="0" indent="0" marL="0">
              <a:buNone/>
            </a:pPr>
            <a:r>
              <a:rPr/>
              <a:t>Файл </a:t>
            </a:r>
            <a:r>
              <a:rPr>
                <a:latin typeface="Courier"/>
              </a:rPr>
              <a:t>_config.yml</a:t>
            </a:r>
            <a:r>
              <a:rPr/>
              <a:t> был настроен со следующей конфигурацией: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title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"Mwikuyu Christian C"</a:t>
            </a:r>
            <a:br/>
            <a:r>
              <a:rPr>
                <a:solidFill>
                  <a:srgbClr val="06287E"/>
                </a:solidFill>
                <a:latin typeface="Courier"/>
              </a:rPr>
              <a:t>description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"Personal website and blog"</a:t>
            </a:r>
            <a:br/>
            <a:r>
              <a:rPr>
                <a:solidFill>
                  <a:srgbClr val="06287E"/>
                </a:solidFill>
                <a:latin typeface="Courier"/>
              </a:rPr>
              <a:t>url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"https://MwikuyuC.github.io"</a:t>
            </a:r>
            <a:br/>
            <a:r>
              <a:rPr>
                <a:solidFill>
                  <a:srgbClr val="06287E"/>
                </a:solidFill>
                <a:latin typeface="Courier"/>
              </a:rPr>
              <a:t>baseurl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""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author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"Mwikuyu Christian C"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email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"christiandumalukhie@gmail.com"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github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"MwikuyuC"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github_username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MwikuyuC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theme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minima</a:t>
            </a:r>
            <a:br/>
            <a:r>
              <a:rPr>
                <a:solidFill>
                  <a:srgbClr val="06287E"/>
                </a:solidFill>
                <a:latin typeface="Courier"/>
              </a:rPr>
              <a:t>plugins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jekyll-feed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jekyll-seo-tag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header_pages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about.md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education.md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Установка зависимостей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Установка Bundler</a:t>
            </a:r>
            <a:br/>
            <a:r>
              <a:rPr>
                <a:latin typeface="Courier"/>
              </a:rPr>
              <a:t>gem install bundler </a:t>
            </a:r>
            <a:r>
              <a:rPr>
                <a:solidFill>
                  <a:srgbClr val="7D9029"/>
                </a:solidFill>
                <a:latin typeface="Courier"/>
              </a:rPr>
              <a:t>--user-install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Установка всех зависимостей</a:t>
            </a:r>
            <a:br/>
            <a:r>
              <a:rPr>
                <a:latin typeface="Courier"/>
              </a:rPr>
              <a:t>bundle install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Создание страниц с личной информацией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Главная страница (index.md)</a:t>
            </a:r>
          </a:p>
          <a:p>
            <a:pPr lvl="0" indent="0" marL="0">
              <a:buNone/>
            </a:pPr>
            <a:r>
              <a:rPr/>
              <a:t>Главная страница содержит приветственное сообщение и ссылки на последние посты: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---</a:t>
            </a:r>
            <a:br/>
            <a:r>
              <a:rPr b="1" i="1">
                <a:solidFill>
                  <a:srgbClr val="60A0B0"/>
                </a:solidFill>
                <a:latin typeface="Courier"/>
              </a:rPr>
              <a:t>layout:</a:t>
            </a:r>
            <a:r>
              <a:rPr i="1">
                <a:solidFill>
                  <a:srgbClr val="60A0B0"/>
                </a:solidFill>
                <a:latin typeface="Courier"/>
              </a:rPr>
              <a:t> home</a:t>
            </a:r>
            <a:br/>
            <a:r>
              <a:rPr b="1" i="1">
                <a:solidFill>
                  <a:srgbClr val="60A0B0"/>
                </a:solidFill>
                <a:latin typeface="Courier"/>
              </a:rPr>
              <a:t>title:</a:t>
            </a:r>
            <a:r>
              <a:rPr i="1">
                <a:solidFill>
                  <a:srgbClr val="60A0B0"/>
                </a:solidFill>
                <a:latin typeface="Courier"/>
              </a:rPr>
              <a:t> "Welcome"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---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 Hello, I'm Mwikuyu Christian C</a:t>
            </a:r>
            <a:br/>
            <a:br/>
            <a:r>
              <a:rPr>
                <a:latin typeface="Courier"/>
              </a:rPr>
              <a:t>Welcome to my personal website! I'm a student passionate about operating </a:t>
            </a:r>
            <a:br/>
            <a:r>
              <a:rPr>
                <a:latin typeface="Courier"/>
              </a:rPr>
              <a:t>systems, version control, and open-source software.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Страница “О себе” (about.md)</a:t>
            </a:r>
          </a:p>
          <a:p>
            <a:pPr lvl="0" indent="0" marL="0">
              <a:buNone/>
            </a:pPr>
            <a:r>
              <a:rPr/>
              <a:t>Страница содержит биографию и интересы владельца сайта: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---</a:t>
            </a:r>
            <a:br/>
            <a:r>
              <a:rPr b="1" i="1">
                <a:solidFill>
                  <a:srgbClr val="60A0B0"/>
                </a:solidFill>
                <a:latin typeface="Courier"/>
              </a:rPr>
              <a:t>layout:</a:t>
            </a:r>
            <a:r>
              <a:rPr i="1">
                <a:solidFill>
                  <a:srgbClr val="60A0B0"/>
                </a:solidFill>
                <a:latin typeface="Courier"/>
              </a:rPr>
              <a:t> page</a:t>
            </a:r>
            <a:br/>
            <a:r>
              <a:rPr b="1" i="1">
                <a:solidFill>
                  <a:srgbClr val="60A0B0"/>
                </a:solidFill>
                <a:latin typeface="Courier"/>
              </a:rPr>
              <a:t>title:</a:t>
            </a:r>
            <a:r>
              <a:rPr i="1">
                <a:solidFill>
                  <a:srgbClr val="60A0B0"/>
                </a:solidFill>
                <a:latin typeface="Courier"/>
              </a:rPr>
              <a:t> "About Me"</a:t>
            </a:r>
            <a:br/>
            <a:r>
              <a:rPr b="1" i="1">
                <a:solidFill>
                  <a:srgbClr val="60A0B0"/>
                </a:solidFill>
                <a:latin typeface="Courier"/>
              </a:rPr>
              <a:t>permalink:</a:t>
            </a:r>
            <a:r>
              <a:rPr i="1">
                <a:solidFill>
                  <a:srgbClr val="60A0B0"/>
                </a:solidFill>
                <a:latin typeface="Courier"/>
              </a:rPr>
              <a:t> /about/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---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## Biography</a:t>
            </a:r>
            <a:br/>
            <a:br/>
            <a:r>
              <a:rPr>
                <a:latin typeface="Courier"/>
              </a:rPr>
              <a:t>Hello! I'm **Mwikuyu Christian C**, a student in the **NPIBd-02-25** group </a:t>
            </a:r>
            <a:br/>
            <a:r>
              <a:rPr>
                <a:latin typeface="Courier"/>
              </a:rPr>
              <a:t>at the **Peoples' Friendship University of Russia (RUDN)**.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## Interests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### Technical Interests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**Operating Systems:** Fedora, Linux system administration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**Version Control:** Git, GitHub workflows, Git-flow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**DevOps:** CI/CD pipelines, automation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**Programming:** Python, Bash scripting, Ruby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Страница образования (education.md)</a:t>
            </a:r>
          </a:p>
          <a:p>
            <a:pPr lvl="0" indent="0" marL="0">
              <a:buNone/>
            </a:pPr>
            <a:r>
              <a:rPr/>
              <a:t>Страница содержит информацию об образовании и навыках: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---</a:t>
            </a:r>
            <a:br/>
            <a:r>
              <a:rPr b="1" i="1">
                <a:solidFill>
                  <a:srgbClr val="60A0B0"/>
                </a:solidFill>
                <a:latin typeface="Courier"/>
              </a:rPr>
              <a:t>layout:</a:t>
            </a:r>
            <a:r>
              <a:rPr i="1">
                <a:solidFill>
                  <a:srgbClr val="60A0B0"/>
                </a:solidFill>
                <a:latin typeface="Courier"/>
              </a:rPr>
              <a:t> page</a:t>
            </a:r>
            <a:br/>
            <a:r>
              <a:rPr b="1" i="1">
                <a:solidFill>
                  <a:srgbClr val="60A0B0"/>
                </a:solidFill>
                <a:latin typeface="Courier"/>
              </a:rPr>
              <a:t>title:</a:t>
            </a:r>
            <a:r>
              <a:rPr i="1">
                <a:solidFill>
                  <a:srgbClr val="60A0B0"/>
                </a:solidFill>
                <a:latin typeface="Courier"/>
              </a:rPr>
              <a:t> "Education"</a:t>
            </a:r>
            <a:br/>
            <a:r>
              <a:rPr b="1" i="1">
                <a:solidFill>
                  <a:srgbClr val="60A0B0"/>
                </a:solidFill>
                <a:latin typeface="Courier"/>
              </a:rPr>
              <a:t>permalink:</a:t>
            </a:r>
            <a:r>
              <a:rPr i="1">
                <a:solidFill>
                  <a:srgbClr val="60A0B0"/>
                </a:solidFill>
                <a:latin typeface="Courier"/>
              </a:rPr>
              <a:t> /education/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---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## Formal Education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### Bachelor's Degree in Applied Informatics</a:t>
            </a:r>
            <a:br/>
            <a:r>
              <a:rPr>
                <a:latin typeface="Courier"/>
              </a:rPr>
              <a:t>**Peoples' Friendship University of Russia (RUDN)** | *2025 - Present*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Faculty: Physics, Mathematics and Natural Sciences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Department: Applied Informatics and Probability Theory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Group: NPIBd-02-25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## Technical Skills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### Operating Systems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**Fedora Linux** - Intermediate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**Ubuntu/Debian** - Intermediate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### Tools &amp; Technologies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Version Control: Git, GitHub CLI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Development: VS Code, Terminal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Documentation: Markdown, Jekyll, Pandoc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Создание блоговых постов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Пост 1: Обзор прошедшей недели</a:t>
            </a:r>
          </a:p>
          <a:p>
            <a:pPr lvl="0" indent="0" marL="0">
              <a:buNone/>
            </a:pPr>
            <a:r>
              <a:rPr/>
              <a:t>Файл: </a:t>
            </a:r>
            <a:r>
              <a:rPr>
                <a:latin typeface="Courier"/>
              </a:rPr>
              <a:t>_posts/2026-03-21-week-in-review.md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---</a:t>
            </a:r>
            <a:br/>
            <a:r>
              <a:rPr b="1" i="1">
                <a:solidFill>
                  <a:srgbClr val="60A0B0"/>
                </a:solidFill>
                <a:latin typeface="Courier"/>
              </a:rPr>
              <a:t>layout:</a:t>
            </a:r>
            <a:r>
              <a:rPr i="1">
                <a:solidFill>
                  <a:srgbClr val="60A0B0"/>
                </a:solidFill>
                <a:latin typeface="Courier"/>
              </a:rPr>
              <a:t> post</a:t>
            </a:r>
            <a:br/>
            <a:r>
              <a:rPr b="1" i="1">
                <a:solidFill>
                  <a:srgbClr val="60A0B0"/>
                </a:solidFill>
                <a:latin typeface="Courier"/>
              </a:rPr>
              <a:t>title:</a:t>
            </a:r>
            <a:r>
              <a:rPr i="1">
                <a:solidFill>
                  <a:srgbClr val="60A0B0"/>
                </a:solidFill>
                <a:latin typeface="Courier"/>
              </a:rPr>
              <a:t> "Week in Review: March 15-21, 2026"</a:t>
            </a:r>
            <a:br/>
            <a:r>
              <a:rPr b="1" i="1">
                <a:solidFill>
                  <a:srgbClr val="60A0B0"/>
                </a:solidFill>
                <a:latin typeface="Courier"/>
              </a:rPr>
              <a:t>date:</a:t>
            </a:r>
            <a:r>
              <a:rPr i="1">
                <a:solidFill>
                  <a:srgbClr val="60A0B0"/>
                </a:solidFill>
                <a:latin typeface="Courier"/>
              </a:rPr>
              <a:t> 2026-03-21</a:t>
            </a:r>
            <a:br/>
            <a:r>
              <a:rPr b="1" i="1">
                <a:solidFill>
                  <a:srgbClr val="60A0B0"/>
                </a:solidFill>
                <a:latin typeface="Courier"/>
              </a:rPr>
              <a:t>categories:</a:t>
            </a:r>
            <a:r>
              <a:rPr i="1">
                <a:solidFill>
                  <a:srgbClr val="60A0B0"/>
                </a:solidFill>
                <a:latin typeface="Courier"/>
              </a:rPr>
              <a:t> [personal, weekly]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---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## What I Accomplished This Week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### Technical Achievements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**Git Configuration:** Set up GPG signing for commits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**Repository Management:** Created git-extended repository using Git-flow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**Release Management:** Created releases v1.0.0 and v1.2.3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**Personal Website:** Started building Jekyll site for GitHub Pages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Пост 2: Управление версиями Git</a:t>
            </a:r>
          </a:p>
          <a:p>
            <a:pPr lvl="0" indent="0" marL="0">
              <a:buNone/>
            </a:pPr>
            <a:r>
              <a:rPr/>
              <a:t>Файл: </a:t>
            </a:r>
            <a:r>
              <a:rPr>
                <a:latin typeface="Courier"/>
              </a:rPr>
              <a:t>_posts/2026-03-21-git-version-control.md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---</a:t>
            </a:r>
            <a:br/>
            <a:r>
              <a:rPr b="1" i="1">
                <a:solidFill>
                  <a:srgbClr val="60A0B0"/>
                </a:solidFill>
                <a:latin typeface="Courier"/>
              </a:rPr>
              <a:t>layout:</a:t>
            </a:r>
            <a:r>
              <a:rPr i="1">
                <a:solidFill>
                  <a:srgbClr val="60A0B0"/>
                </a:solidFill>
                <a:latin typeface="Courier"/>
              </a:rPr>
              <a:t> post</a:t>
            </a:r>
            <a:br/>
            <a:r>
              <a:rPr b="1" i="1">
                <a:solidFill>
                  <a:srgbClr val="60A0B0"/>
                </a:solidFill>
                <a:latin typeface="Courier"/>
              </a:rPr>
              <a:t>title:</a:t>
            </a:r>
            <a:r>
              <a:rPr i="1">
                <a:solidFill>
                  <a:srgbClr val="60A0B0"/>
                </a:solidFill>
                <a:latin typeface="Courier"/>
              </a:rPr>
              <a:t> "Git Version Control: A Comprehensive Guide"</a:t>
            </a:r>
            <a:br/>
            <a:r>
              <a:rPr b="1" i="1">
                <a:solidFill>
                  <a:srgbClr val="60A0B0"/>
                </a:solidFill>
                <a:latin typeface="Courier"/>
              </a:rPr>
              <a:t>date:</a:t>
            </a:r>
            <a:r>
              <a:rPr i="1">
                <a:solidFill>
                  <a:srgbClr val="60A0B0"/>
                </a:solidFill>
                <a:latin typeface="Courier"/>
              </a:rPr>
              <a:t> 2026-03-21</a:t>
            </a:r>
            <a:br/>
            <a:r>
              <a:rPr b="1" i="1">
                <a:solidFill>
                  <a:srgbClr val="60A0B0"/>
                </a:solidFill>
                <a:latin typeface="Courier"/>
              </a:rPr>
              <a:t>categories:</a:t>
            </a:r>
            <a:r>
              <a:rPr i="1">
                <a:solidFill>
                  <a:srgbClr val="60A0B0"/>
                </a:solidFill>
                <a:latin typeface="Courier"/>
              </a:rPr>
              <a:t> [technology, git, version-control]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---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## What is Git?</a:t>
            </a:r>
            <a:br/>
            <a:br/>
            <a:r>
              <a:rPr>
                <a:latin typeface="Courier"/>
              </a:rPr>
              <a:t>Git is a **distributed version control system** created by Linus Torvalds </a:t>
            </a:r>
            <a:br/>
            <a:r>
              <a:rPr>
                <a:latin typeface="Courier"/>
              </a:rPr>
              <a:t>in 2005 for Linux kernel development.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## Essential Git Commands</a:t>
            </a:r>
            <a:br/>
            <a:br/>
            <a:r>
              <a:rPr>
                <a:solidFill>
                  <a:srgbClr val="BC7A00"/>
                </a:solidFill>
                <a:latin typeface="Courier"/>
              </a:rPr>
              <a:t>|</a:t>
            </a:r>
            <a:r>
              <a:rPr>
                <a:latin typeface="Courier"/>
              </a:rPr>
              <a:t> Command </a:t>
            </a:r>
            <a:r>
              <a:rPr>
                <a:solidFill>
                  <a:srgbClr val="BC7A00"/>
                </a:solidFill>
                <a:latin typeface="Courier"/>
              </a:rPr>
              <a:t>|</a:t>
            </a:r>
            <a:r>
              <a:rPr>
                <a:latin typeface="Courier"/>
              </a:rPr>
              <a:t> Purpose </a:t>
            </a:r>
            <a:r>
              <a:rPr>
                <a:solidFill>
                  <a:srgbClr val="BC7A00"/>
                </a:solidFill>
                <a:latin typeface="Courier"/>
              </a:rPr>
              <a:t>|</a:t>
            </a:r>
            <a:br/>
            <a:r>
              <a:rPr>
                <a:solidFill>
                  <a:srgbClr val="BC7A00"/>
                </a:solidFill>
                <a:latin typeface="Courier"/>
              </a:rPr>
              <a:t>|---------|---------|</a:t>
            </a:r>
            <a:br/>
            <a:r>
              <a:rPr>
                <a:solidFill>
                  <a:srgbClr val="BC7A00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 b="1" i="1">
                <a:solidFill>
                  <a:srgbClr val="60A0B0"/>
                </a:solidFill>
                <a:latin typeface="Courier"/>
              </a:rPr>
              <a:t>`git init`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C7A00"/>
                </a:solidFill>
                <a:latin typeface="Courier"/>
              </a:rPr>
              <a:t>|</a:t>
            </a:r>
            <a:r>
              <a:rPr>
                <a:latin typeface="Courier"/>
              </a:rPr>
              <a:t> Initialize new repository </a:t>
            </a:r>
            <a:r>
              <a:rPr>
                <a:solidFill>
                  <a:srgbClr val="BC7A00"/>
                </a:solidFill>
                <a:latin typeface="Courier"/>
              </a:rPr>
              <a:t>|</a:t>
            </a:r>
            <a:br/>
            <a:r>
              <a:rPr>
                <a:solidFill>
                  <a:srgbClr val="BC7A00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 b="1" i="1">
                <a:solidFill>
                  <a:srgbClr val="60A0B0"/>
                </a:solidFill>
                <a:latin typeface="Courier"/>
              </a:rPr>
              <a:t>`git add &lt;file&gt;`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C7A00"/>
                </a:solidFill>
                <a:latin typeface="Courier"/>
              </a:rPr>
              <a:t>|</a:t>
            </a:r>
            <a:r>
              <a:rPr>
                <a:latin typeface="Courier"/>
              </a:rPr>
              <a:t> Stage changes </a:t>
            </a:r>
            <a:r>
              <a:rPr>
                <a:solidFill>
                  <a:srgbClr val="BC7A00"/>
                </a:solidFill>
                <a:latin typeface="Courier"/>
              </a:rPr>
              <a:t>|</a:t>
            </a:r>
            <a:br/>
            <a:r>
              <a:rPr>
                <a:solidFill>
                  <a:srgbClr val="BC7A00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 b="1" i="1">
                <a:solidFill>
                  <a:srgbClr val="60A0B0"/>
                </a:solidFill>
                <a:latin typeface="Courier"/>
              </a:rPr>
              <a:t>`git commit -m "message"`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C7A00"/>
                </a:solidFill>
                <a:latin typeface="Courier"/>
              </a:rPr>
              <a:t>|</a:t>
            </a:r>
            <a:r>
              <a:rPr>
                <a:latin typeface="Courier"/>
              </a:rPr>
              <a:t> Commit staged changes </a:t>
            </a:r>
            <a:r>
              <a:rPr>
                <a:solidFill>
                  <a:srgbClr val="BC7A00"/>
                </a:solidFill>
                <a:latin typeface="Courier"/>
              </a:rPr>
              <a:t>|</a:t>
            </a:r>
            <a:br/>
            <a:r>
              <a:rPr>
                <a:solidFill>
                  <a:srgbClr val="BC7A00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 b="1" i="1">
                <a:solidFill>
                  <a:srgbClr val="60A0B0"/>
                </a:solidFill>
                <a:latin typeface="Courier"/>
              </a:rPr>
              <a:t>`git push`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C7A00"/>
                </a:solidFill>
                <a:latin typeface="Courier"/>
              </a:rPr>
              <a:t>|</a:t>
            </a:r>
            <a:r>
              <a:rPr>
                <a:latin typeface="Courier"/>
              </a:rPr>
              <a:t> Push to remote repository </a:t>
            </a:r>
            <a:r>
              <a:rPr>
                <a:solidFill>
                  <a:srgbClr val="BC7A00"/>
                </a:solidFill>
                <a:latin typeface="Courier"/>
              </a:rPr>
              <a:t>|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Размещение фотографии</a:t>
            </a:r>
          </a:p>
          <a:p>
            <a:pPr lvl="0" indent="0" marL="0">
              <a:buNone/>
            </a:pPr>
            <a:r>
              <a:rPr/>
              <a:t>Для добавления фотографии владельца была создана директория для изображений: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Создание директории для изображений</a:t>
            </a:r>
            <a:br/>
            <a:r>
              <a:rPr>
                <a:solidFill>
                  <a:srgbClr val="06287E"/>
                </a:solidFill>
                <a:latin typeface="Courier"/>
              </a:rPr>
              <a:t>mkdir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-p</a:t>
            </a:r>
            <a:r>
              <a:rPr>
                <a:latin typeface="Courier"/>
              </a:rPr>
              <a:t> assets/images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Копирование фотографии</a:t>
            </a:r>
            <a:br/>
            <a:r>
              <a:rPr>
                <a:solidFill>
                  <a:srgbClr val="06287E"/>
                </a:solidFill>
                <a:latin typeface="Courier"/>
              </a:rPr>
              <a:t>cp</a:t>
            </a:r>
            <a:r>
              <a:rPr>
                <a:latin typeface="Courier"/>
              </a:rPr>
              <a:t> ~/Pictures/avatar.jpg assets/images/avatar.jpg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Добавление ссылки на фото в about.md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В файл about.md добавлена строка: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![My Photo](/assets/images/avatar.jpg)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Публикация на GitHub Pages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Коммит и отправка изменений</a:t>
            </a:r>
          </a:p>
          <a:p>
            <a:pPr lvl="0" indent="0" marL="0">
              <a:buNone/>
            </a:pPr>
            <a:r>
              <a:rPr/>
              <a:t>Все созданные файлы были добавлены в репозиторий и отправлены на GitHub: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Добавление всех файлов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add .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Создание коммита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commit </a:t>
            </a:r>
            <a:r>
              <a:rPr>
                <a:solidFill>
                  <a:srgbClr val="7D9029"/>
                </a:solidFill>
                <a:latin typeface="Courier"/>
              </a:rPr>
              <a:t>-m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"Initial commit: personal website setup"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Отправка на GitHub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push </a:t>
            </a:r>
            <a:r>
              <a:rPr>
                <a:solidFill>
                  <a:srgbClr val="7D9029"/>
                </a:solidFill>
                <a:latin typeface="Courier"/>
              </a:rPr>
              <a:t>-u</a:t>
            </a:r>
            <a:r>
              <a:rPr>
                <a:latin typeface="Courier"/>
              </a:rPr>
              <a:t> origin main</a:t>
            </a:r>
          </a:p>
        </p:txBody>
      </p:sp>
      <p:pic>
        <p:nvPicPr>
          <p:cNvPr descr="screenshots/M7.png" id="0" name="Picture 1"/>
          <p:cNvPicPr>
            <a:picLocks noGrp="1"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3568700" y="1511300"/>
            <a:ext cx="5105400" cy="1244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Создание коммита</a:t>
            </a:r>
          </a:p>
        </p:txBody>
      </p:sp>
      <p:pic>
        <p:nvPicPr>
          <p:cNvPr descr="screenshots/M6.png" id="0" name="Picture 1"/>
          <p:cNvPicPr>
            <a:picLocks noGrp="1" noChangeAspect="1"/>
          </p:cNvPicPr>
          <p:nvPr/>
        </p:nvPicPr>
        <p:blipFill>
          <a:blip r:embed="rId6"/>
          <a:stretch>
            <a:fillRect/>
          </a:stretch>
        </p:blipFill>
        <p:spPr bwMode="auto">
          <a:xfrm>
            <a:off x="3568700" y="1511300"/>
            <a:ext cx="5105400" cy="1244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Отправка изменений на GitHub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Проверка публикации</a:t>
            </a:r>
          </a:p>
          <a:p>
            <a:pPr lvl="0" indent="0" marL="0">
              <a:buNone/>
            </a:pPr>
            <a:r>
              <a:rPr/>
              <a:t>После отправки изменений сайт стал доступен по адресу:</a:t>
            </a:r>
          </a:p>
          <a:p>
            <a:pPr lvl="0" indent="0">
              <a:buNone/>
            </a:pPr>
            <a:r>
              <a:rPr>
                <a:latin typeface="Courier"/>
              </a:rPr>
              <a:t>https://MwikuyuC.github.io</a:t>
            </a:r>
          </a:p>
        </p:txBody>
      </p:sp>
      <p:pic>
        <p:nvPicPr>
          <p:cNvPr descr="screenshots/M8.png" id="0" name="Picture 1"/>
          <p:cNvPicPr>
            <a:picLocks noGrp="1" noChangeAspect="1"/>
          </p:cNvPicPr>
          <p:nvPr/>
        </p:nvPicPr>
        <p:blipFill>
          <a:blip r:embed="rId7"/>
          <a:stretch>
            <a:fillRect/>
          </a:stretch>
        </p:blipFill>
        <p:spPr bwMode="auto">
          <a:xfrm>
            <a:off x="3568700" y="469900"/>
            <a:ext cx="5105400" cy="3327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Опубликованный сайт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Результаты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результате выполнения лабораторной работы был создан и опубликован персональный сайт, содержащий: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Структура сайта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Страница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Содержание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Статус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Главная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Приветствие и список постов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About 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Биография и интересы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Education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Образование и навыки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Blog Post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Обзор прошедшей недели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Blog Post 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Git Version Control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Проверка работоспособности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Элемент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Результат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Доступность сайта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https://MwikuyuC.github.io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Навигационное меню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Все страницы доступны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Блоговые посты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2 поста опубликованы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RSS-лента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Доступна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выполнения лабораторной работы были достигнуты следующие результаты:</a:t>
            </a:r>
          </a:p>
          <a:p>
            <a:pPr lvl="0" indent="-342900" marL="342900">
              <a:buAutoNum type="arabicPeriod"/>
            </a:pPr>
            <a:r>
              <a:rPr b="1"/>
              <a:t>Установлено и настроено</a:t>
            </a:r>
            <a:r>
              <a:rPr/>
              <a:t> необходимое программное обеспечение (Git, Ruby, Bundler, Jekyll).</a:t>
            </a:r>
          </a:p>
          <a:p>
            <a:pPr lvl="0" indent="-342900" marL="342900">
              <a:buAutoNum type="arabicPeriod"/>
            </a:pPr>
            <a:r>
              <a:rPr b="1"/>
              <a:t>Создан репозиторий</a:t>
            </a:r>
            <a:r>
              <a:rPr/>
              <a:t> на GitHub с именем </a:t>
            </a:r>
            <a:r>
              <a:rPr>
                <a:latin typeface="Courier"/>
              </a:rPr>
              <a:t>MwikuyuC.github.io</a:t>
            </a:r>
            <a:r>
              <a:rPr/>
              <a:t> для размещения персонального сайта.</a:t>
            </a:r>
          </a:p>
          <a:p>
            <a:pPr lvl="0" indent="-342900" marL="342900">
              <a:buAutoNum type="arabicPeriod"/>
            </a:pPr>
            <a:r>
              <a:rPr b="1"/>
              <a:t>Настроен Jekyll</a:t>
            </a:r>
            <a:r>
              <a:rPr/>
              <a:t> и создана структура сайта с использованием темы minima.</a:t>
            </a:r>
          </a:p>
          <a:p>
            <a:pPr lvl="0" indent="-342900" marL="342900">
              <a:buAutoNum type="arabicPeriod"/>
            </a:pPr>
            <a:r>
              <a:rPr b="1"/>
              <a:t>Созданы страницы:</a:t>
            </a:r>
          </a:p>
          <a:p>
            <a:pPr lvl="1"/>
            <a:r>
              <a:rPr/>
              <a:t>Главная страница с приветствием</a:t>
            </a:r>
          </a:p>
          <a:p>
            <a:pPr lvl="1"/>
            <a:r>
              <a:rPr/>
              <a:t>Страница “О себе” с биографией и интересами</a:t>
            </a:r>
          </a:p>
          <a:p>
            <a:pPr lvl="1"/>
            <a:r>
              <a:rPr/>
              <a:t>Страница “Образование” с информацией об образовании и навыках</a:t>
            </a:r>
          </a:p>
          <a:p>
            <a:pPr lvl="0" indent="-342900" marL="342900">
              <a:buAutoNum type="arabicPeriod"/>
            </a:pPr>
            <a:r>
              <a:rPr b="1"/>
              <a:t>Созданы два блоговых поста:</a:t>
            </a:r>
          </a:p>
          <a:p>
            <a:pPr lvl="1"/>
            <a:r>
              <a:rPr/>
              <a:t>Обзор прошедшей недели</a:t>
            </a:r>
          </a:p>
          <a:p>
            <a:pPr lvl="1"/>
            <a:r>
              <a:rPr/>
              <a:t>Технический пост об управлении версиями Git</a:t>
            </a:r>
          </a:p>
          <a:p>
            <a:pPr lvl="0" indent="-342900" marL="342900">
              <a:buAutoNum type="arabicPeriod"/>
            </a:pPr>
            <a:r>
              <a:rPr b="1"/>
              <a:t>Добавлена фотография</a:t>
            </a:r>
            <a:r>
              <a:rPr/>
              <a:t> владельца сайта.</a:t>
            </a:r>
          </a:p>
          <a:p>
            <a:pPr lvl="0" indent="-342900" marL="342900">
              <a:buAutoNum type="arabicPeriod"/>
            </a:pPr>
            <a:r>
              <a:rPr b="1"/>
              <a:t>Сайт опубликован</a:t>
            </a:r>
            <a:r>
              <a:rPr/>
              <a:t> на GitHub Pages и доступен по адресу https://MwikuyuC.github.io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Полученные навыки</a:t>
            </a:r>
          </a:p>
          <a:p>
            <a:pPr lvl="0" indent="0" marL="0">
              <a:buNone/>
            </a:pPr>
            <a:r>
              <a:rPr/>
              <a:t>В процессе работы были освоены следующие навыки:</a:t>
            </a:r>
          </a:p>
          <a:p>
            <a:pPr lvl="0"/>
            <a:r>
              <a:rPr/>
              <a:t>Работа с системой контроля версий Git</a:t>
            </a:r>
          </a:p>
          <a:p>
            <a:pPr lvl="0"/>
            <a:r>
              <a:rPr/>
              <a:t>Использование GitHub CLI для управления репозиториями</a:t>
            </a:r>
          </a:p>
          <a:p>
            <a:pPr lvl="0"/>
            <a:r>
              <a:rPr/>
              <a:t>Настройка и использование генератора статических сайтов Jekyll</a:t>
            </a:r>
          </a:p>
          <a:p>
            <a:pPr lvl="0"/>
            <a:r>
              <a:rPr/>
              <a:t>Создание структурированных документов в формате Markdown</a:t>
            </a:r>
          </a:p>
          <a:p>
            <a:pPr lvl="0"/>
            <a:r>
              <a:rPr/>
              <a:t>Размещение статических сайтов на GitHub Pages</a:t>
            </a:r>
          </a:p>
          <a:p>
            <a:pPr lvl="0" indent="0" marL="0">
              <a:buNone/>
            </a:pPr>
            <a:r>
              <a:rPr/>
              <a:t>Все поставленные задачи выполнены полностью. Персональный сайт успешно создан и опубликован.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Список литературы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GitHub Pages Documentation [Электронный ресурс]. — Режим доступа: https://docs.github.com/en/pages (дата обращения: 21.03.2026).</a:t>
            </a:r>
          </a:p>
          <a:p>
            <a:pPr lvl="0" indent="-342900" marL="342900">
              <a:buAutoNum type="arabicPeriod"/>
            </a:pPr>
            <a:r>
              <a:rPr/>
              <a:t>Jekyll Documentation [Электронный ресурс]. — Режим доступа: https://jekyllrb.com/docs/ (дата обращения: 21.03.2026).</a:t>
            </a:r>
          </a:p>
          <a:p>
            <a:pPr lvl="0" indent="-342900" marL="342900">
              <a:buAutoNum type="arabicPeriod"/>
            </a:pPr>
            <a:r>
              <a:rPr/>
              <a:t>Markdown Guide [Электронный ресурс]. — Режим доступа: https://www.markdownguide.org (дата обращения: 21.03.2026).</a:t>
            </a:r>
          </a:p>
          <a:p>
            <a:pPr lvl="0" indent="-342900" marL="342900">
              <a:buAutoNum type="arabicPeriod"/>
            </a:pPr>
            <a:r>
              <a:rPr/>
              <a:t>Pro Git Book [Электронный ресурс]. — Режим доступа: https://git-scm.com/book/en/v2 (дата обращения: 21.03.2026).</a:t>
            </a:r>
          </a:p>
          <a:p>
            <a:pPr lvl="0" indent="-342900" marL="342900">
              <a:buAutoNum type="arabicPeriod"/>
            </a:pPr>
            <a:r>
              <a:rPr/>
              <a:t>Яковлев А.В. Git и GitHub: основы работы с системой контроля версий. — М.: Издательство РУДН, 2025. — 85 с.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Приложение А. Скриншоты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А.1 Проверка версий Git, Ruby и Bundler Проверка версий</a:t>
            </a:r>
          </a:p>
          <a:p>
            <a:pPr lvl="0" indent="0" marL="0">
              <a:buNone/>
            </a:pPr>
            <a:r>
              <a:rPr/>
              <a:t>А.2 Клонирование шаблона Minimal Mistakes Клонирование шаблона</a:t>
            </a:r>
          </a:p>
          <a:p>
            <a:pPr lvl="0" indent="0" marL="0">
              <a:buNone/>
            </a:pPr>
            <a:r>
              <a:rPr/>
              <a:t>А.3 Инициализация Git репозитория Инициализация Git</a:t>
            </a:r>
          </a:p>
          <a:p>
            <a:pPr lvl="0" indent="0" marL="0">
              <a:buNone/>
            </a:pPr>
            <a:r>
              <a:rPr/>
              <a:t>А.4 Создание репозитория на GitHub Создание репозитория</a:t>
            </a:r>
          </a:p>
          <a:p>
            <a:pPr lvl="0" indent="0" marL="0">
              <a:buNone/>
            </a:pPr>
            <a:r>
              <a:rPr/>
              <a:t>А.5 Клонирование репозитория сайта Клонирование репозитория</a:t>
            </a:r>
          </a:p>
          <a:p>
            <a:pPr lvl="0" indent="0" marL="0">
              <a:buNone/>
            </a:pPr>
            <a:r>
              <a:rPr/>
              <a:t>А.6 Отправка изменений на GitHub Push изменений</a:t>
            </a:r>
          </a:p>
          <a:p>
            <a:pPr lvl="0" indent="0" marL="0">
              <a:buNone/>
            </a:pPr>
            <a:r>
              <a:rPr/>
              <a:t>А.7 Создание коммита Создание коммита</a:t>
            </a:r>
          </a:p>
          <a:p>
            <a:pPr lvl="0" indent="0" marL="0">
              <a:buNone/>
            </a:pPr>
            <a:r>
              <a:rPr/>
              <a:t>А.8 Опубликованный сайт Опубликованный сайт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Дата выполнения:</a:t>
            </a:r>
            <a:r>
              <a:rPr/>
              <a:t> 21 марта 2026 г.</a:t>
            </a:r>
          </a:p>
          <a:p>
            <a:pPr lvl="0" indent="0" marL="0">
              <a:buNone/>
            </a:pPr>
            <a:r>
              <a:rPr b="1"/>
              <a:t>Студент:</a:t>
            </a:r>
            <a:r>
              <a:rPr/>
              <a:t> Мвикую Кристиан Кристофер</a:t>
            </a:r>
          </a:p>
          <a:p>
            <a:pPr lvl="0" indent="0" marL="0">
              <a:buNone/>
            </a:pPr>
            <a:r>
              <a:rPr b="1"/>
              <a:t>Группа:</a:t>
            </a:r>
            <a:r>
              <a:rPr/>
              <a:t> НПИбд-02-25 ```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2026-03-21T14:35:24Z</dcterms:created>
  <dcterms:modified xsi:type="dcterms:W3CDTF">2026-03-21T14:35:24Z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